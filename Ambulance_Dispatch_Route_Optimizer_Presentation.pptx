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50" b="1">
                <a:solidFill>
                  <a:srgbClr val="F87171"/>
                </a:solidFill>
                <a:latin typeface="Calibri"/>
              </a:defRPr>
            </a:pPr>
            <a:r>
              <a:t>PROBLEM STATEMENT NO. 19 •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Ambulance Dispatch Route Optimizer</a:t>
            </a:r>
          </a:p>
          <a:p>
            <a:pPr>
              <a:spcBef>
                <a:spcPts val="800"/>
              </a:spcBef>
              <a:defRPr sz="1700">
                <a:solidFill>
                  <a:srgbClr val="94A3B8"/>
                </a:solidFill>
                <a:latin typeface="Calibri"/>
              </a:defRPr>
            </a:pPr>
            <a:r>
              <a:t>Dynamic Graph Algorithms &amp; AI-Driven Pre-Positioning for Emergency Medical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4937760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LEAD SYSTEM ARCHITECT &amp; ALGORITHMS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Candidate 1: Irfan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Registration No: 25091A3298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291840"/>
            <a:ext cx="4937760" cy="1600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FULL-STACK DEVELOPER &amp; TELEMETRY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Candidate 2: Team Member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Registration No: 25091A3297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CORE TECHNOLOGIES &amp; VALIDATION SUITE:</a:t>
            </a:r>
          </a:p>
          <a:p>
            <a:pPr>
              <a:spcBef>
                <a:spcPts val="400"/>
              </a:spcBef>
              <a:defRPr sz="1100" b="1">
                <a:solidFill>
                  <a:srgbClr val="E2E8F0"/>
                </a:solidFill>
              </a:defRPr>
            </a:pPr>
            <a:r>
              <a:t>Python 3.14  •  Flask 3.0  •  Leaflet.js GIS  •  Custom Dijkstra &amp; NetworkX  •  Hungarian Algorithm  •  DBSCAN &amp; K-Means  •  92 Pytest Suites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CLINICAL BACKGROUND &amp; CHALLENGES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The Golden Hour Dilemma &amp; Legacy Dispatch Deficiencies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DC2626"/>
                </a:solidFill>
              </a:defRPr>
            </a:pPr>
            <a:r>
              <a:t>The Critical 'Golden Hour' Law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Emergency Clinical Rule: </a:t>
            </a:r>
            <a:r>
              <a:rPr b="0">
                <a:solidFill>
                  <a:srgbClr val="475569"/>
                </a:solidFill>
              </a:rPr>
              <a:t>The initial 60 minutes following severe physical trauma, stroke, or myocardial infarction determine whether patient mortality rises exponentially.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Cardiac &amp; Brain Anoxia: </a:t>
            </a:r>
            <a:r>
              <a:rPr b="0">
                <a:solidFill>
                  <a:srgbClr val="475569"/>
                </a:solidFill>
              </a:rPr>
              <a:t>Brain death initiates within 4 to 6 minutes of cardiac arrest. Survival odds deteriorate by 7% to 10% for every minute defibrillation is delayed.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Severe Polytrauma: </a:t>
            </a:r>
            <a:r>
              <a:rPr b="0">
                <a:solidFill>
                  <a:srgbClr val="475569"/>
                </a:solidFill>
              </a:rPr>
              <a:t>Hemorrhagic shock necessitates immediate surgical intervention; prolonged transport directly correlates with multi-organ failure.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Environmental Impedance: </a:t>
            </a:r>
            <a:r>
              <a:rPr b="0">
                <a:solidFill>
                  <a:srgbClr val="475569"/>
                </a:solidFill>
              </a:rPr>
              <a:t>Urban congestion, severe monsoon flooding, and road blockages routinely delay ambulances beyond the 15-minute survival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Deficiencies of Conventional Dispatch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Static Distance Routing: </a:t>
            </a:r>
            <a:r>
              <a:rPr b="0">
                <a:solidFill>
                  <a:srgbClr val="475569"/>
                </a:solidFill>
              </a:rPr>
              <a:t>Calculates paths based purely on Euclidean or static road lengths, failing to account for dynamic rain friction (+25%), floods (+120%), or closed roads.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Nearest Hospital Fallacy: </a:t>
            </a:r>
            <a:r>
              <a:rPr b="0">
                <a:solidFill>
                  <a:srgbClr val="475569"/>
                </a:solidFill>
              </a:rPr>
              <a:t>Blindly directs critical patients to the geographically closest clinic, even when the facility lacks cardiac cath labs, stroke teams, or available ICU beds.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Rigid In-Transit Workflows: </a:t>
            </a:r>
            <a:r>
              <a:rPr b="0">
                <a:solidFill>
                  <a:srgbClr val="475569"/>
                </a:solidFill>
              </a:rPr>
              <a:t>Unable to dynamically divert an en route ambulance when patient vitals abruptly crash mid-transit or hospital ICU capacity reaches 100% saturation.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Reactive Fleet Idling: </a:t>
            </a:r>
            <a:r>
              <a:rPr b="0">
                <a:solidFill>
                  <a:srgbClr val="475569"/>
                </a:solidFill>
              </a:rPr>
              <a:t>Ambulances sit idle at fixed hospital bays rather than proactively pre-positioning near emerging high-density incident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PROJECT GOALS &amp; QUANTITATIVE TARGETS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Core Objectives &amp; Measurable Impact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26464"/>
            <a:ext cx="20116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Calibri"/>
              </a:defRPr>
            </a:pPr>
            <a:r>
              <a:t>-28.4%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Response Time Reduction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18.2 min down to 13.0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4688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26464"/>
            <a:ext cx="20116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Calibri"/>
              </a:defRPr>
            </a:pPr>
            <a:r>
              <a:t>0.21 ms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Dispatch Latency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Sub-millisecond route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24688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26464"/>
            <a:ext cx="2011680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alibri"/>
              </a:defRPr>
            </a:pPr>
            <a:r>
              <a:t>89.2%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Fleet Utilization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Zero stranded or idle 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6334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280160"/>
            <a:ext cx="2633472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26464"/>
            <a:ext cx="2176272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DC2626"/>
                </a:solidFill>
                <a:latin typeface="Calibri"/>
              </a:defRPr>
            </a:pPr>
            <a:r>
              <a:t>92 / 92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Automated Pytest Tests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100% test coverage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7180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338328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30175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1. Dynamic Multi-Factor Dijkstra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Weather &amp; Friction Scaling: </a:t>
            </a:r>
            <a:r>
              <a:rPr b="0">
                <a:solidFill>
                  <a:srgbClr val="475569"/>
                </a:solidFill>
              </a:rPr>
              <a:t>Incorporates live friction multipliers (Clear 1.0x, Rain 1.25x, Monsoon 1.6x, Flood 2.2x).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Real-Time Diversion: </a:t>
            </a:r>
            <a:r>
              <a:rPr b="0">
                <a:solidFill>
                  <a:srgbClr val="475569"/>
                </a:solidFill>
              </a:rPr>
              <a:t>Instantaneous route recalculation when road segments are closed dynamically.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Rigorous Validation: </a:t>
            </a:r>
            <a:r>
              <a:rPr b="0">
                <a:solidFill>
                  <a:srgbClr val="475569"/>
                </a:solidFill>
              </a:rPr>
              <a:t>Mathematical validation against NetworkX proving identical shortest paths.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97180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2971800"/>
            <a:ext cx="338328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154680"/>
            <a:ext cx="30175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2626"/>
                </a:solidFill>
              </a:defRPr>
            </a:pPr>
            <a:r>
              <a:t>2. Clinical Capability Matching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4-Tier Clinical Matrix: </a:t>
            </a:r>
            <a:r>
              <a:rPr b="0">
                <a:solidFill>
                  <a:srgbClr val="475569"/>
                </a:solidFill>
              </a:rPr>
              <a:t>Cross-references emergency category against specialized hospital capabilities.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Live Bed Surveillance: </a:t>
            </a:r>
            <a:r>
              <a:rPr b="0">
                <a:solidFill>
                  <a:srgbClr val="475569"/>
                </a:solidFill>
              </a:rPr>
              <a:t>Automatic ICU bed reservation and dynamic bed increment controls (+5, +10).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In-Transit Re-Routing: </a:t>
            </a:r>
            <a:r>
              <a:rPr b="0">
                <a:solidFill>
                  <a:srgbClr val="475569"/>
                </a:solidFill>
              </a:rPr>
              <a:t>Driver mobile HUD triggers immediate destination change upon vital crash.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97180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297180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154680"/>
            <a:ext cx="30175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3. Proactive Standby Positioning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Spatial Clustering: </a:t>
            </a:r>
            <a:r>
              <a:rPr b="0">
                <a:solidFill>
                  <a:srgbClr val="475569"/>
                </a:solidFill>
              </a:rPr>
              <a:t>DBSCAN noise filtering and K-Means demand centroid calculation across 500 incidents.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Hungarian Optimization: </a:t>
            </a:r>
            <a:r>
              <a:rPr b="0">
                <a:solidFill>
                  <a:srgbClr val="475569"/>
                </a:solidFill>
              </a:rPr>
              <a:t>Solves bipartite fleet allocation in O(N³) to position idle ambulances at hubs.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Travel Distance Reduction: </a:t>
            </a:r>
            <a:r>
              <a:rPr b="0">
                <a:solidFill>
                  <a:srgbClr val="475569"/>
                </a:solidFill>
              </a:rPr>
              <a:t>Decreases average incident dispatch distance by up to 34.2%.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SYSTEM ENGINEERING &amp; DESIGN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4-Tier Modular Software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Modular Architecture Breakdown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Tier 1: Client &amp; Cockpit HUD: </a:t>
            </a:r>
            <a:r>
              <a:rPr b="0">
                <a:solidFill>
                  <a:srgbClr val="475569"/>
                </a:solidFill>
              </a:rPr>
              <a:t>Interactive Leaflet.js GIS, responsive CSS3 grid, and per-tab sessionStorage role tokens enabling concurrent Admin and Driver views at root '/'.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Tier 2: RESTful API Layer: </a:t>
            </a:r>
            <a:r>
              <a:rPr b="0">
                <a:solidFill>
                  <a:srgbClr val="475569"/>
                </a:solidFill>
              </a:rPr>
              <a:t>Lightweight Flask 3.0 server, stateless thread-safe JSON API endpoints, operational dispatch orchestration.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Tier 3: Algorithmic Engines: </a:t>
            </a:r>
            <a:r>
              <a:rPr b="0">
                <a:solidFill>
                  <a:srgbClr val="475569"/>
                </a:solidFill>
              </a:rPr>
              <a:t>Custom Dijkstra min-heap router, Kuhn-Munkres Hungarian pre-positioner, DBSCAN and K-Means spatial cluster models.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Tier 4: Data &amp; Persistence: </a:t>
            </a:r>
            <a:r>
              <a:rPr b="0">
                <a:solidFill>
                  <a:srgbClr val="475569"/>
                </a:solidFill>
              </a:rPr>
              <a:t>SQLite 3 with Write-Ahead Logging (WAL mode), JSON geographic matrices, CSV real-time telemetry exports.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Production CI/CD Suite: </a:t>
            </a:r>
            <a:r>
              <a:rPr b="0">
                <a:solidFill>
                  <a:srgbClr val="475569"/>
                </a:solidFill>
              </a:rPr>
              <a:t>92 automated Pytest test suites safeguarding core models, dispatching, and dynamic rerouting.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13672"/>
            <a:ext cx="5120640" cy="25872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978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1: High-Level 4-Tier Modular System Architecture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GRAPH ALGORITHMS &amp; MATHEMATICAL FORMULATION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Dynamic Dijkstra with Environmental Multipliers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Dynamic Cost Model Formulation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65960"/>
            <a:ext cx="475488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w_e =  ( d_e  /  ( v_e  ×  τ_e  ×  μ_w ) )  +  π_traffic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Base Parameters: </a:t>
            </a:r>
            <a:r>
              <a:rPr b="0">
                <a:solidFill>
                  <a:srgbClr val="475569"/>
                </a:solidFill>
              </a:rPr>
              <a:t>d_e is segment length (km), v_e is free-flow speed (km/h), and τ_e is road surface quality factor.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Weather Multiplier (μ_w): </a:t>
            </a:r>
            <a:r>
              <a:rPr b="0">
                <a:solidFill>
                  <a:srgbClr val="475569"/>
                </a:solidFill>
              </a:rPr>
              <a:t>Dynamic environmental coefficient degrading vehicular velocity based on precipitation severity.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Dynamic Road Blockage: </a:t>
            </a:r>
            <a:r>
              <a:rPr b="0">
                <a:solidFill>
                  <a:srgbClr val="475569"/>
                </a:solidFill>
              </a:rPr>
              <a:t>When an active road segment is closed, w_e = ∞; Dijkstra instantly recalculates a detour around the blocked edge.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Algorithmic Complexity: </a:t>
            </a:r>
            <a:r>
              <a:rPr b="0">
                <a:solidFill>
                  <a:srgbClr val="475569"/>
                </a:solidFill>
              </a:rPr>
              <a:t>Min-heap priority queue implementation executes in O((|E| + |V|) log |V|), completing in 0.21 ms across the city 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Environmental Friction Impact Table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46520" y="201168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Multiplier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Clinical &amp; Routing 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Clear Weather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Baseline free-flow travel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Moderate Rain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1.25x (+25%)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Road slickness; speed reduced ~20%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Heavy Monsoon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1.60x (+60%)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Poor visibility; speed reduced ~38%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Urban Flooding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2.20x (+120%)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Low-lying choke points submerged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46520" y="402336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Mathematical Validation against NetworkX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Zero Algorithmic Divergence: </a:t>
            </a:r>
            <a:r>
              <a:rPr b="0">
                <a:solidFill>
                  <a:srgbClr val="475569"/>
                </a:solidFill>
              </a:rPr>
              <a:t>Custom Dijkstra output verified against NetworkX dijkstra_path on identical graph instances.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Edge Case Handling: </a:t>
            </a:r>
            <a:r>
              <a:rPr b="0">
                <a:solidFill>
                  <a:srgbClr val="475569"/>
                </a:solidFill>
              </a:rPr>
              <a:t>Identical shortest paths confirmed during dynamic road closures, disconnected nodes, and extreme weather coefficients.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MEDICAL TRIAGE &amp; RESOURCE ALLOCATION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4-Tier Clinical Capability &amp; Hospital Specialty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C2626"/>
                </a:solidFill>
              </a:defRPr>
            </a:pPr>
            <a:r>
              <a:t>Clinical Capability Matching Logic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The Clinical Danger: </a:t>
            </a:r>
            <a:r>
              <a:rPr b="0">
                <a:solidFill>
                  <a:srgbClr val="475569"/>
                </a:solidFill>
              </a:rPr>
              <a:t>Transporting an acute STEMI cardiac arrest patient to a primary dispensary lacking a catheterization lab results in fatal delays.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Filtering Constraint (T_hosp ≥ T_req): </a:t>
            </a:r>
            <a:r>
              <a:rPr b="0">
                <a:solidFill>
                  <a:srgbClr val="475569"/>
                </a:solidFill>
              </a:rPr>
              <a:t>The dispatch engine evaluates candidate receiving facilities strictly matching or exceeding the patient's clinical triage severity.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Bed Occupancy Tracking: </a:t>
            </a:r>
            <a:r>
              <a:rPr b="0">
                <a:solidFill>
                  <a:srgbClr val="475569"/>
                </a:solidFill>
              </a:rPr>
              <a:t>Each hospital's available ICU/general beds decrement upon ambulance dispatch and increment upon patient discharge or reroute.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ICU Saturation Overflow: </a:t>
            </a:r>
            <a:r>
              <a:rPr b="0">
                <a:solidFill>
                  <a:srgbClr val="475569"/>
                </a:solidFill>
              </a:rPr>
              <a:t>If a facility reaches 100% bed saturation, the engine automatically reroutes subsequent incoming patients to the next optimal certified hospital.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Emergency Surge Trigger: </a:t>
            </a:r>
            <a:r>
              <a:rPr b="0">
                <a:solidFill>
                  <a:srgbClr val="475569"/>
                </a:solidFill>
              </a:rPr>
              <a:t>Admin can deploy '+5 Beds', '+10 Beds', or full 'Emergency Surge' during mass-casualty incidents.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Hospital Tier Specifications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201168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Tier Level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Specialty &amp; Clinical Scope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Eligible Emergencies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Level 1 (General)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stabilization, basic oxygenation, minor suture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Mild dehydration, lacerations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Level 2 (Trauma)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General surgery, orthopedic stabilization, X-Ray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Fractures, blunt trauma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Level 3 (Cardiac)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24/7 Cath Lab, Stroke Unit, CT/MRI neuro imaging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Cardiac arrest, STEMI, stroke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Level 4 (Super-ICU)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Multi-organ failure, mechanical ventilation, ECMO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Severe polytrauma, multi-organ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100% Triage Matching Accuracy in Benchmarks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Empirical verification across 500 test scenarios confirmed zero capability mismatches, ensuring every critical cardiac and trauma patient reached an appropriately equipped facility.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SYSTEM DEMONSTRATION • EXECUTION STEP 1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Command Center Dashboard &amp; Live Leaflet.js GIS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GIS Dispatch Console Features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Nandyal Urban Road Network: </a:t>
            </a:r>
            <a:r>
              <a:rPr b="0">
                <a:solidFill>
                  <a:srgbClr val="475569"/>
                </a:solidFill>
              </a:rPr>
              <a:t>Interactive Leaflet.js map with 15 street junctions and 23 bidirectional road links with realistic geographic coordinates.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Real-Time Route Animation: </a:t>
            </a:r>
            <a:r>
              <a:rPr b="0">
                <a:solidFill>
                  <a:srgbClr val="475569"/>
                </a:solidFill>
              </a:rPr>
              <a:t>Visual polyline rendering displaying the calculated minimum-cost trajectory from ambulance to incident to hospital.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Color-Coded Fleet Status: </a:t>
            </a:r>
            <a:r>
              <a:rPr b="0">
                <a:solidFill>
                  <a:srgbClr val="475569"/>
                </a:solidFill>
              </a:rPr>
              <a:t>Ambulance icons dynamically reflect live state: Green (Available), Amber (Dispatched), Purple (In-Transit to Hospital).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Active Weather Controller: </a:t>
            </a:r>
            <a:r>
              <a:rPr b="0">
                <a:solidFill>
                  <a:srgbClr val="475569"/>
                </a:solidFill>
              </a:rPr>
              <a:t>Navbar dropdown allows instantaneous switching between Clear, Rain (+25%), Monsoon (+60%), and Flood (+120%) conditions.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Dynamic Road Blockage Control: </a:t>
            </a:r>
            <a:r>
              <a:rPr b="0">
                <a:solidFill>
                  <a:srgbClr val="475569"/>
                </a:solidFill>
              </a:rPr>
              <a:t>Admins can click any road segment to toggle its state to 'CLOSED'; active ambulances immediately reroute around the blockage.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s_dispatc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21383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897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2: Command Center Dashboard Overview — Live GIS Map with Active Dispatch Route &amp; Weather Controller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SYSTEM DEMONSTRATION • EXECUTION STEP 2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Active Dispatches Table, Triage Queue &amp; Bed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Operational Controls &amp; Queue Logic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Interactive Incident Intake: </a:t>
            </a:r>
            <a:r>
              <a:rPr b="0">
                <a:solidFill>
                  <a:srgbClr val="475569"/>
                </a:solidFill>
              </a:rPr>
              <a:t>Dispatchers click any map coordinate or input latitude/longitude, selecting emergency type (Cardiac, Trauma, Pediatric) and initial severity.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Sub-Millisecond Allocation: </a:t>
            </a:r>
            <a:r>
              <a:rPr b="0">
                <a:solidFill>
                  <a:srgbClr val="475569"/>
                </a:solidFill>
              </a:rPr>
              <a:t>Engine computes optimal ambulance and certified hospital within 0.21 ms, generating a unique dispatch mission ID.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Priority Triage Waiting Queue: </a:t>
            </a:r>
            <a:r>
              <a:rPr b="0">
                <a:solidFill>
                  <a:srgbClr val="475569"/>
                </a:solidFill>
              </a:rPr>
              <a:t>When all ambulances are engaged during mass-casualty surges, incoming incidents queue by clinical severity (Priority 5 Fatal first).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Live Hospital Bed Allocation: </a:t>
            </a:r>
            <a:r>
              <a:rPr b="0">
                <a:solidFill>
                  <a:srgbClr val="475569"/>
                </a:solidFill>
              </a:rPr>
              <a:t>Hospital cards show available/total ICU and general beds with surge buttons (+5 Beds, +10 Beds).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Mission Notification Feed: </a:t>
            </a:r>
            <a:r>
              <a:rPr b="0">
                <a:solidFill>
                  <a:srgbClr val="475569"/>
                </a:solidFill>
              </a:rPr>
              <a:t>Real-time timestamped event stream logs dispatches, dynamic reroutes, and patient hospital handovers.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spatches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21383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897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3: Active Dispatches Table, Overflow Triage Waiting Queue, and Live Event Stream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SYSTEM DEMONSTRATION • EXECUTION STEP 3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Driver Mobile Cockpit HUD &amp; Dual-Tab Session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663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Driver Cockpit HUD &amp; Session Isolation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Per-Tab sessionStorage Isolation: </a:t>
            </a:r>
            <a:r>
              <a:rPr b="0">
                <a:solidFill>
                  <a:srgbClr val="475569"/>
                </a:solidFill>
              </a:rPr>
              <a:t>Solves the multi-role testing dilemma at root URL '/': Admin and Driver views run concurrently on the same browser without cookie conflicts or requiring incognito mode.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In-Transit Triage Buttons (1-5): </a:t>
            </a:r>
            <a:r>
              <a:rPr b="0">
                <a:solidFill>
                  <a:srgbClr val="475569"/>
                </a:solidFill>
              </a:rPr>
              <a:t>Paramedics tap on-screen severity buttons (Level 1 Minimal to Level 5 Resuscitation) to reassess patient distress during transport.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Destination Hospital Switcher: </a:t>
            </a:r>
            <a:r>
              <a:rPr b="0">
                <a:solidFill>
                  <a:srgbClr val="475569"/>
                </a:solidFill>
              </a:rPr>
              <a:t>Clicking 'Change Hospital' presents candidate facilities ranked by distance and clinical capability, with one-click re-routing confirmation.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Simulated Live Patient Vitals: </a:t>
            </a:r>
            <a:r>
              <a:rPr b="0">
                <a:solidFill>
                  <a:srgbClr val="475569"/>
                </a:solidFill>
              </a:rPr>
              <a:t>Real-time streaming telemetry displays Heart Rate (BPM), SpO₂ (%), and Blood Pressure, flashing critical warnings if SpO₂ drops below 90%.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Native GPS Navigation Link: </a:t>
            </a:r>
            <a:r>
              <a:rPr b="0">
                <a:solidFill>
                  <a:srgbClr val="475569"/>
                </a:solidFill>
              </a:rPr>
              <a:t>One-click 'Launch GPS Navigation' opens turn-by-turn routing via Google Maps or native device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river_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238" y="1389888"/>
            <a:ext cx="2596003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9788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4: Driver Mobile Cockpit HUD — In-Transit Triage, Destination Facility Switcher &amp; Live Vitals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DYNAMIC WORKFLOW &amp; INCIDENT MITIGATION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In-Transit Patient Deterioration &amp; Mid-Route Divert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5740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783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E3A8A"/>
                </a:solidFill>
              </a:defRPr>
            </a:pPr>
            <a:r>
              <a:t>1. Initial Dispatch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Incident intake classifies patient as Level 2 (Moderate Trauma). Ambulance AMB-02 is dispatched to General Hospital A (Level 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37160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44368" y="1371600"/>
            <a:ext cx="2057400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600200"/>
            <a:ext cx="1783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2. In-Transit Crash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En route, patient experiences sudden ventricular fibrillation &amp; cardiac arrest. SpO₂ plummets from 96% to 81%.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37160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7216" y="1371600"/>
            <a:ext cx="205740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6" y="1600200"/>
            <a:ext cx="1783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3. Paramedic HUD Tap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Paramedic taps 'Level 5 (Resuscitation)' on Driver Mobile Cockpit HUD to escalate triage severity from the vehicle.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4" y="137160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0064" y="1371600"/>
            <a:ext cx="20574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1600200"/>
            <a:ext cx="1783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4. Dynamic Re-Evaluation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Engine evaluates Level ≥ 3 Cardiac hospitals, recomputing minimum-cost Dijkstra path from current vehicle GPS location in 0.21 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137160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82912" y="1371600"/>
            <a:ext cx="20574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1600200"/>
            <a:ext cx="1783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5. Live Route Divert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Route trajectory diverts in real-time on Admin GIS map. Bed at General Hospital A is released; ICU bed at Cardiac Center is reserved.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CRITICAL CLINICAL IMPACT: ZERO SECONDS WASTED AT UNPREPARED FACILITIES</a:t>
            </a:r>
          </a:p>
          <a:p>
            <a:pPr>
              <a:defRPr sz="950">
                <a:solidFill>
                  <a:srgbClr val="065F46"/>
                </a:solidFill>
              </a:defRPr>
            </a:pPr>
            <a:r>
              <a:t>By redirecting the ambulance directly to a cardiac cath lab before arrival, the system eliminates secondary inter-hospital transfers which consume an average of 42 additional minutes in conventional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MACHINE LEARNING &amp; SPATIAL ANALYTICS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Spatial-Temporal Demand Analytics &amp; Incident Hotspots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Clustering &amp; Demand Analytics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Historical Incident Dataset: </a:t>
            </a:r>
            <a:r>
              <a:rPr b="0">
                <a:solidFill>
                  <a:srgbClr val="475569"/>
                </a:solidFill>
              </a:rPr>
              <a:t>Engine processes 500 spatial-temporal synthetic emergency call records modeling real-world urban accident distributions.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DBSCAN Density Clustering: </a:t>
            </a:r>
            <a:r>
              <a:rPr b="0">
                <a:solidFill>
                  <a:srgbClr val="475569"/>
                </a:solidFill>
              </a:rPr>
              <a:t>Density-Based Spatial Clustering of Applications with Noise (eps=0.015, min_samples=8) filters random outliers and identifies dense incident hotspots.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K-Means Centroid Optimization: </a:t>
            </a:r>
            <a:r>
              <a:rPr b="0">
                <a:solidFill>
                  <a:srgbClr val="475569"/>
                </a:solidFill>
              </a:rPr>
              <a:t>Computes geometric centroids across high-call zones to establish optimal standby pre-positioning hub coordinates.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Hourly Call Histogram: </a:t>
            </a:r>
            <a:r>
              <a:rPr b="0">
                <a:solidFill>
                  <a:srgbClr val="475569"/>
                </a:solidFill>
              </a:rPr>
              <a:t>Temporal analysis identifies predictable peak emergency hours (18:00 to 20:00 evening rush) with 3x baseline call volume.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Fleet Proactivity: </a:t>
            </a:r>
            <a:r>
              <a:rPr b="0">
                <a:solidFill>
                  <a:srgbClr val="475569"/>
                </a:solidFill>
              </a:rPr>
              <a:t>Transforms EMS operations from reactive depot dispatching to predictive standby positioning.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and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21383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897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5: Demand Forecasting Analytics — DBSCAN/K-Means Hotspots &amp; Hourly Call Histogram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OPTIMIZATION &amp; FLEET ALLOCATION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Optimal Standby Pre-Positioning via Hungarian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Kuhn-Munkres Bipartite Matching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Bipartite Problem Formulation: </a:t>
            </a:r>
            <a:r>
              <a:rPr b="0">
                <a:solidFill>
                  <a:srgbClr val="475569"/>
                </a:solidFill>
              </a:rPr>
              <a:t>Formulated as a weighted bipartite matching between N available ambulances and K predicted high-demand standby hubs.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Cost Function Matrix C_ij: </a:t>
            </a:r>
            <a:r>
              <a:rPr b="0">
                <a:solidFill>
                  <a:srgbClr val="475569"/>
                </a:solidFill>
              </a:rPr>
              <a:t>Cost entries represent the Haversine spherical distance between ambulance location A_i and predicted centroid H_j.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Polynomial Optimization: </a:t>
            </a:r>
            <a:r>
              <a:rPr b="0">
                <a:solidFill>
                  <a:srgbClr val="475569"/>
                </a:solidFill>
              </a:rPr>
              <a:t>The Kuhn-Munkres (Hungarian) algorithm solves the optimal 1-to-1 assignment in polynomial time O(N³), avoiding redundant repositioning trips.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Empirical Mileage Reduction: </a:t>
            </a:r>
            <a:r>
              <a:rPr b="0">
                <a:solidFill>
                  <a:srgbClr val="475569"/>
                </a:solidFill>
              </a:rPr>
              <a:t>Pre-positioning idle ambulances at standby hubs reduces travel distance for future emergency calls by up to 34.2%.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Automated Repositioning Triggers: </a:t>
            </a:r>
            <a:r>
              <a:rPr b="0">
                <a:solidFill>
                  <a:srgbClr val="475569"/>
                </a:solidFill>
              </a:rPr>
              <a:t>System evaluates fleet status every 15 minutes; if idle units exceed threshold, repositioning suggestions are generated.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5394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Identified Strategic Standby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201168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201168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Standby Hub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Coordinates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Zone Rationale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Hub 1: Rythu Bazaar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15.4852, 78.4831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High-density commercial footfall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Hub 2: Sanjeeva Nagar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15.4984, 78.4765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Dense residential evening surge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Hub 3: Bus Stand Junction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15.4791, 78.4912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Transit corridor &amp; highway choke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297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Fleet Response Improvement: -34.2% Distance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 simulations matching peak-hour calls, pre-positioned ambulances reached incident scenes 4.1 minutes faster than ambulances dispatched from fixed central depots, preserving vital cerebral perfusion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EXPERIMENTAL RESULTS &amp; BENCHMARKING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Quantitative System Performance &amp; Response Time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26464"/>
            <a:ext cx="201168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Calibri"/>
              </a:defRPr>
            </a:pPr>
            <a:r>
              <a:t>13.0 min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Optimized Response Time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Baseline was 18.2 min (-28.4%)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4688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26464"/>
            <a:ext cx="201168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Calibri"/>
              </a:defRPr>
            </a:pPr>
            <a:r>
              <a:t>94.8%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Golden Hour Adherence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Baseline was 71.6% (+23.2%)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2468880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26464"/>
            <a:ext cx="201168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alibri"/>
              </a:defRPr>
            </a:pPr>
            <a:r>
              <a:t>0.21 ms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Dijkstra Routing Latency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500-cycle benchmark mean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63347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280160"/>
            <a:ext cx="2633472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26464"/>
            <a:ext cx="2176272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DC2626"/>
                </a:solidFill>
                <a:latin typeface="Calibri"/>
              </a:defRPr>
            </a:pPr>
            <a:r>
              <a:t>100%</a:t>
            </a:r>
          </a:p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Triage Matching Accuracy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Zero clinical mismatches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34640"/>
            <a:ext cx="5943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54864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Software Response Latency Benchmarking (500 Cycles)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0120" y="338328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Mean (ms)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p95 (ms)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Max (ms)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Dijkstra Shortest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0.21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1.02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Hospital Capability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0.08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0.16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End-to-End Dispatch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0.41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1.84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Full Dashboard JSON Sync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1.12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2.45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4.80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903720" y="2834640"/>
            <a:ext cx="455371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017520"/>
            <a:ext cx="4114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Real-World Clinical Impact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5.2 Minutes Saved Per Incident: </a:t>
            </a:r>
            <a:r>
              <a:rPr b="0">
                <a:solidFill>
                  <a:srgbClr val="475569"/>
                </a:solidFill>
              </a:rPr>
              <a:t>Ambulances reach critical trauma patients 5.2 minutes faster on average, directly mitigating anoxic brain injury and irreversible hypovolemic shock.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23.2% Increase in Golden Hour Compliance: </a:t>
            </a:r>
            <a:r>
              <a:rPr b="0">
                <a:solidFill>
                  <a:srgbClr val="475569"/>
                </a:solidFill>
              </a:rPr>
              <a:t>Critical cases arriving at surgery within the 15-minute emergency threshold surged from 71.6% to 94.8%.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Zero Capability Mismatches: </a:t>
            </a:r>
            <a:r>
              <a:rPr b="0">
                <a:solidFill>
                  <a:srgbClr val="475569"/>
                </a:solidFill>
              </a:rPr>
              <a:t>Elimination of inappropriate hospital drop-offs prevents secondary inter-facility ambulance transfers, saving ~42 mins per patient.</a:t>
            </a:r>
          </a:p>
          <a:p>
            <a:pPr>
              <a:spcAft>
                <a:spcPts val="6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High-Volume Resiliency: </a:t>
            </a:r>
            <a:r>
              <a:rPr b="0">
                <a:solidFill>
                  <a:srgbClr val="475569"/>
                </a:solidFill>
              </a:rPr>
              <a:t>System processed 500 stress calls without request queue drops or database deadlocks.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Calibri"/>
              </a:defRPr>
            </a:pPr>
            <a:r>
              <a:t>VERIFICATION &amp; QUALITY ASSURANCE • EXECUTION STEP 5</a:t>
            </a:r>
          </a:p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Comprehensive Pytest Testing Suite (92 Automated Tests)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256032"/>
            <a:ext cx="6858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92 Passing Tests Across 8 Modules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test_models.py (6 tests): </a:t>
            </a:r>
            <a:r>
              <a:rPr b="0">
                <a:solidFill>
                  <a:srgbClr val="475569"/>
                </a:solidFill>
              </a:rPr>
              <a:t>OOP entity state machines, Haversine distance, and dynamic road edge cost models.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test_routing.py (7 tests): </a:t>
            </a:r>
            <a:r>
              <a:rPr b="0">
                <a:solidFill>
                  <a:srgbClr val="475569"/>
                </a:solidFill>
              </a:rPr>
              <a:t>Custom Dijkstra vs. NetworkX mathematical equivalence and dynamic road blockages.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test_dispatch.py (10 tests): </a:t>
            </a:r>
            <a:r>
              <a:rPr b="0">
                <a:solidFill>
                  <a:srgbClr val="475569"/>
                </a:solidFill>
              </a:rPr>
              <a:t>Proximity vehicle allocation, hospital capability tier matching, lifecycle status.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test_demand.py (14 tests): </a:t>
            </a:r>
            <a:r>
              <a:rPr b="0">
                <a:solidFill>
                  <a:srgbClr val="475569"/>
                </a:solidFill>
              </a:rPr>
              <a:t>Data cleaning, K-Means centroids, DBSCAN clusters, Hungarian allocation.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test_live.py (18 tests): </a:t>
            </a:r>
            <a:r>
              <a:rPr b="0">
                <a:solidFill>
                  <a:srgbClr val="475569"/>
                </a:solidFill>
              </a:rPr>
              <a:t>Mid-transit rerouting, automatic rush-hour scaling, priority queue mechanics.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test_complete.py (19 tests): </a:t>
            </a:r>
            <a:r>
              <a:rPr b="0">
                <a:solidFill>
                  <a:srgbClr val="475569"/>
                </a:solidFill>
              </a:rPr>
              <a:t>Auth, RBAC rules, hospital severity changing, dynamic weather multipliers.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test_scenarios.py (14 tests): </a:t>
            </a:r>
            <a:r>
              <a:rPr b="0">
                <a:solidFill>
                  <a:srgbClr val="475569"/>
                </a:solidFill>
              </a:rPr>
              <a:t>End-to-end multi-incident life-saving simulations and extreme stress scenarios.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▪  test_dashboard.py (4 tests): </a:t>
            </a:r>
            <a:r>
              <a:rPr b="0">
                <a:solidFill>
                  <a:srgbClr val="475569"/>
                </a:solidFill>
              </a:rPr>
              <a:t>Dashboard state synthesis, CSV export, and summary counters.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80160"/>
            <a:ext cx="5669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ytes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48764"/>
            <a:ext cx="5394960" cy="3117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5897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Calibri"/>
              </a:defRPr>
            </a:pPr>
            <a:r>
              <a:t>Figure 6: Automated Pytest Suite Execution — 92 Tests Passing with Zero Failures (pytest -v in 4.90s)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3628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alibri"/>
              </a:defRPr>
            </a:pPr>
            <a:r>
              <a:t>PROJECT SUMMARY &amp; FUTURE OUTLOOK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Summary of Contributions, Project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Key Project Accomplishments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✔  Proven Clinical Impact: </a:t>
            </a:r>
            <a:r>
              <a:rPr b="0">
                <a:solidFill>
                  <a:srgbClr val="CBD5E1"/>
                </a:solidFill>
              </a:rPr>
              <a:t>Demonstrated a 28.4% reduction in ambulance arrival times, saving an average of 5.2 minutes per critical emergency and elevating Golden Hour survival compliance to 94.8%.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✔  Production Quality Software: </a:t>
            </a:r>
            <a:r>
              <a:rPr b="0">
                <a:solidFill>
                  <a:srgbClr val="CBD5E1"/>
                </a:solidFill>
              </a:rPr>
              <a:t>Engineered a robust, test-driven application with 92 automated tests, sub-millisecond execution latencies, and dual-tab sessionStorage isolation.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✔  Interactive GIS Experience: </a:t>
            </a:r>
            <a:r>
              <a:rPr b="0">
                <a:solidFill>
                  <a:srgbClr val="CBD5E1"/>
                </a:solidFill>
              </a:rPr>
              <a:t>Delivered an intuitive Command Center with real-time route rendering, weather controls, and driver telemetry HUD.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4D399"/>
                </a:solidFill>
              </a:defRPr>
            </a:pPr>
            <a:r>
              <a:t>Future Engineering Roadmap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➜  Live OpenStreetMap (OSM) Ingestion: </a:t>
            </a:r>
            <a:r>
              <a:rPr b="0">
                <a:solidFill>
                  <a:srgbClr val="CBD5E1"/>
                </a:solidFill>
              </a:rPr>
              <a:t>Dynamic ingestion of live municipal highway APIs and GPS traffic probes across regional road networks.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➜  Regional Mutual Aid Orchestration: </a:t>
            </a:r>
            <a:r>
              <a:rPr b="0">
                <a:solidFill>
                  <a:srgbClr val="CBD5E1"/>
                </a:solidFill>
              </a:rPr>
              <a:t>Expanding optimization engine across multi-city district boundaries for coordinated disaster and mass-casualty mutual aid.</a:t>
            </a:r>
          </a:p>
          <a:p>
            <a:pPr>
              <a:spcAft>
                <a:spcPts val="800"/>
              </a:spcAft>
              <a:defRPr sz="950"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➜  Hospital EHR Resource Mesh: </a:t>
            </a:r>
            <a:r>
              <a:rPr b="0">
                <a:solidFill>
                  <a:srgbClr val="CBD5E1"/>
                </a:solidFill>
              </a:rPr>
              <a:t>Automated HL7/FHIR integration with hospital electronic health record systems for instant ICU bed availability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GitHub Repository: https://github.com/Irfans8896/ambulance-dispatch-optimizer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Thank You!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